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4630400" cy="8229600"/>
  <p:notesSz cx="8229600" cy="14630400"/>
  <p:embeddedFontLst>
    <p:embeddedFont>
      <p:font typeface="Aptos Black" panose="020B0004020202020204" pitchFamily="34" charset="0"/>
      <p:bold r:id="rId18"/>
      <p:boldItalic r:id="rId19"/>
    </p:embeddedFont>
    <p:embeddedFont>
      <p:font typeface="Century Gothic" panose="020B0502020202020204" pitchFamily="34" charset="0"/>
      <p:regular r:id="rId20"/>
      <p:bold r:id="rId21"/>
      <p:italic r:id="rId22"/>
      <p:boldItalic r:id="rId23"/>
    </p:embeddedFont>
    <p:embeddedFont>
      <p:font typeface="Inter" panose="020B0604020202020204" charset="0"/>
      <p:regular r:id="rId24"/>
    </p:embeddedFont>
    <p:embeddedFont>
      <p:font typeface="Wingdings 3" panose="05040102010807070707" pitchFamily="18" charset="2"/>
      <p:regular r:id="rId2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40" d="100"/>
          <a:sy n="40" d="100"/>
        </p:scale>
        <p:origin x="34" y="79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59115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07056" y="3017521"/>
            <a:ext cx="10698479" cy="2715337"/>
          </a:xfrm>
        </p:spPr>
        <p:txBody>
          <a:bodyPr anchor="b">
            <a:normAutofit/>
          </a:bodyPr>
          <a:lstStyle>
            <a:lvl1pPr>
              <a:defRPr sz="648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07056" y="5732855"/>
            <a:ext cx="10698479" cy="1351540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5188573"/>
            <a:ext cx="2093582" cy="934307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543544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357942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11511" y="748932"/>
            <a:ext cx="10694024" cy="1537068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07054" y="2560320"/>
            <a:ext cx="10698480" cy="453314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7948328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2470500"/>
            <a:ext cx="10698479" cy="1762560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4236155"/>
            <a:ext cx="10698479" cy="1032480"/>
          </a:xfrm>
        </p:spPr>
        <p:txBody>
          <a:bodyPr anchor="t"/>
          <a:lstStyle>
            <a:lvl1pPr marL="0" indent="0" algn="l">
              <a:buNone/>
              <a:defRPr sz="2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41489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07054" y="2560320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28896" y="2551467"/>
            <a:ext cx="5176637" cy="4533146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116457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27248" y="2367244"/>
            <a:ext cx="4791278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107055" y="3058759"/>
            <a:ext cx="5211472" cy="402487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007956" y="2363370"/>
            <a:ext cx="4798801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00348" y="3054886"/>
            <a:ext cx="5206409" cy="4024872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945339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8894284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6718263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294027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535306"/>
            <a:ext cx="4206239" cy="1171574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87614" y="535306"/>
            <a:ext cx="6217920" cy="6497956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5" y="1918336"/>
            <a:ext cx="4206239" cy="5114923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441119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5760720"/>
            <a:ext cx="10698480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07054" y="761958"/>
            <a:ext cx="10698480" cy="4625964"/>
          </a:xfrm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440806"/>
            <a:ext cx="10698480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1739612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31520"/>
            <a:ext cx="10698479" cy="3740448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870662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930014" y="4206240"/>
            <a:ext cx="9043865" cy="4572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92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5" y="5224855"/>
            <a:ext cx="10698479" cy="1867037"/>
          </a:xfrm>
        </p:spPr>
        <p:txBody>
          <a:bodyPr anchor="ctr">
            <a:normAutofit/>
          </a:bodyPr>
          <a:lstStyle>
            <a:lvl1pPr marL="0" indent="0" algn="l">
              <a:buNone/>
              <a:defRPr sz="216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381381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38175" y="3892967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22751114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6" y="2926081"/>
            <a:ext cx="10698480" cy="3269814"/>
          </a:xfrm>
        </p:spPr>
        <p:txBody>
          <a:bodyPr anchor="b">
            <a:normAutofit/>
          </a:bodyPr>
          <a:lstStyle>
            <a:lvl1pPr algn="l">
              <a:defRPr sz="576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9690923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3419939" y="731520"/>
            <a:ext cx="10072711" cy="3474720"/>
          </a:xfrm>
        </p:spPr>
        <p:txBody>
          <a:bodyPr anchor="ctr">
            <a:normAutofit/>
          </a:bodyPr>
          <a:lstStyle>
            <a:lvl1pPr algn="l">
              <a:defRPr sz="576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961182" y="777606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337822" y="3486367"/>
            <a:ext cx="731520" cy="701731"/>
          </a:xfrm>
          <a:prstGeom prst="rect">
            <a:avLst/>
          </a:prstGeom>
        </p:spPr>
        <p:txBody>
          <a:bodyPr vert="horz" lIns="109728" tIns="54864" rIns="109728" bIns="54864" rtlCol="0" anchor="ctr">
            <a:noAutofit/>
          </a:bodyPr>
          <a:lstStyle/>
          <a:p>
            <a:pPr lvl="0"/>
            <a:r>
              <a:rPr lang="en-US" sz="96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536308707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07055" y="752888"/>
            <a:ext cx="10698479" cy="3456024"/>
          </a:xfrm>
        </p:spPr>
        <p:txBody>
          <a:bodyPr anchor="ctr">
            <a:normAutofit/>
          </a:bodyPr>
          <a:lstStyle>
            <a:lvl1pPr algn="l">
              <a:defRPr sz="576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107054" y="5212080"/>
            <a:ext cx="10698480" cy="100584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880">
                <a:solidFill>
                  <a:schemeClr val="accent1"/>
                </a:solidFill>
              </a:defRPr>
            </a:lvl1pPr>
            <a:lvl2pPr marL="548640" indent="0">
              <a:buFontTx/>
              <a:buNone/>
              <a:defRPr/>
            </a:lvl2pPr>
            <a:lvl3pPr marL="1097280" indent="0">
              <a:buFontTx/>
              <a:buNone/>
              <a:defRPr/>
            </a:lvl3pPr>
            <a:lvl4pPr marL="1645920" indent="0">
              <a:buFontTx/>
              <a:buNone/>
              <a:defRPr/>
            </a:lvl4pPr>
            <a:lvl5pPr marL="219456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107056" y="6217920"/>
            <a:ext cx="10698480" cy="8755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5026" y="589407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38175" y="5979705"/>
            <a:ext cx="935720" cy="43815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9815139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0202852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153775" y="752887"/>
            <a:ext cx="2649121" cy="6340580"/>
          </a:xfrm>
        </p:spPr>
        <p:txBody>
          <a:bodyPr vert="eaVert" anchor="ctr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107054" y="752887"/>
            <a:ext cx="7772400" cy="63405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5026" y="857251"/>
            <a:ext cx="1906232" cy="608756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7659054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47679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5951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385572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776843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4108948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257648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59492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29203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739922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372158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74320"/>
            <a:ext cx="3421819" cy="7966354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" name="Group 9"/>
          <p:cNvGrpSpPr/>
          <p:nvPr/>
        </p:nvGrpSpPr>
        <p:grpSpPr>
          <a:xfrm>
            <a:off x="32665" y="-943"/>
            <a:ext cx="2828009" cy="8224847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7" name="Rectangle 6"/>
          <p:cNvSpPr/>
          <p:nvPr/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111510" y="748932"/>
            <a:ext cx="10694024" cy="15370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107054" y="2560320"/>
            <a:ext cx="10698480" cy="46634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433935" y="7356525"/>
            <a:ext cx="1375540" cy="444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11/11/2025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07055" y="7362970"/>
            <a:ext cx="9143999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638175" y="945339"/>
            <a:ext cx="93572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4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04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432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216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92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8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301752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4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166BF9EE-F7AC-4FA5-AC7E-001B3A642F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74321"/>
            <a:ext cx="3421818" cy="7966349"/>
            <a:chOff x="2487613" y="285750"/>
            <a:chExt cx="2428875" cy="5654676"/>
          </a:xfrm>
        </p:grpSpPr>
        <p:sp>
          <p:nvSpPr>
            <p:cNvPr id="1032" name="Freeform 11">
              <a:extLst>
                <a:ext uri="{FF2B5EF4-FFF2-40B4-BE49-F238E27FC236}">
                  <a16:creationId xmlns:a16="http://schemas.microsoft.com/office/drawing/2014/main" id="{3B48D182-44E3-4D8B-ACEF-F1A900BE44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33" name="Freeform 12">
              <a:extLst>
                <a:ext uri="{FF2B5EF4-FFF2-40B4-BE49-F238E27FC236}">
                  <a16:creationId xmlns:a16="http://schemas.microsoft.com/office/drawing/2014/main" id="{355A535A-A489-477F-A314-593AA8CAFB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34" name="Freeform 13">
              <a:extLst>
                <a:ext uri="{FF2B5EF4-FFF2-40B4-BE49-F238E27FC236}">
                  <a16:creationId xmlns:a16="http://schemas.microsoft.com/office/drawing/2014/main" id="{954C2D4C-FD83-4EF4-9312-04442ABD66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35" name="Freeform 14">
              <a:extLst>
                <a:ext uri="{FF2B5EF4-FFF2-40B4-BE49-F238E27FC236}">
                  <a16:creationId xmlns:a16="http://schemas.microsoft.com/office/drawing/2014/main" id="{C20701C2-CD9A-4698-BC97-E1085820C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36" name="Freeform 15">
              <a:extLst>
                <a:ext uri="{FF2B5EF4-FFF2-40B4-BE49-F238E27FC236}">
                  <a16:creationId xmlns:a16="http://schemas.microsoft.com/office/drawing/2014/main" id="{62575C35-466F-42AE-87A1-D691849AB8C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37" name="Freeform 16">
              <a:extLst>
                <a:ext uri="{FF2B5EF4-FFF2-40B4-BE49-F238E27FC236}">
                  <a16:creationId xmlns:a16="http://schemas.microsoft.com/office/drawing/2014/main" id="{58236F37-6119-45AC-80A0-CD2C311B5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38" name="Freeform 17">
              <a:extLst>
                <a:ext uri="{FF2B5EF4-FFF2-40B4-BE49-F238E27FC236}">
                  <a16:creationId xmlns:a16="http://schemas.microsoft.com/office/drawing/2014/main" id="{F3FDD799-39FE-4D6F-9A64-2F472B2150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39" name="Freeform 18">
              <a:extLst>
                <a:ext uri="{FF2B5EF4-FFF2-40B4-BE49-F238E27FC236}">
                  <a16:creationId xmlns:a16="http://schemas.microsoft.com/office/drawing/2014/main" id="{9820D241-1D49-442C-A95A-00BC1BF9E2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0" name="Freeform 19">
              <a:extLst>
                <a:ext uri="{FF2B5EF4-FFF2-40B4-BE49-F238E27FC236}">
                  <a16:creationId xmlns:a16="http://schemas.microsoft.com/office/drawing/2014/main" id="{EBC2197C-B383-4866-8ABD-74222400BE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1" name="Freeform 20">
              <a:extLst>
                <a:ext uri="{FF2B5EF4-FFF2-40B4-BE49-F238E27FC236}">
                  <a16:creationId xmlns:a16="http://schemas.microsoft.com/office/drawing/2014/main" id="{404B06AA-FC93-4471-9DE4-56A401E70A5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2" name="Freeform 21">
              <a:extLst>
                <a:ext uri="{FF2B5EF4-FFF2-40B4-BE49-F238E27FC236}">
                  <a16:creationId xmlns:a16="http://schemas.microsoft.com/office/drawing/2014/main" id="{E580600C-013F-4FAF-8FB7-4CC0FA80A9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3" name="Freeform 22">
              <a:extLst>
                <a:ext uri="{FF2B5EF4-FFF2-40B4-BE49-F238E27FC236}">
                  <a16:creationId xmlns:a16="http://schemas.microsoft.com/office/drawing/2014/main" id="{9BFCF199-64B2-4AEE-88C4-E954ABF362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045" name="Group 1044">
            <a:extLst>
              <a:ext uri="{FF2B5EF4-FFF2-40B4-BE49-F238E27FC236}">
                <a16:creationId xmlns:a16="http://schemas.microsoft.com/office/drawing/2014/main" id="{E312DBA5-56D8-42B2-BA94-28168C2A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2661" y="-943"/>
            <a:ext cx="2828008" cy="8224846"/>
            <a:chOff x="6627813" y="194833"/>
            <a:chExt cx="1952625" cy="5678918"/>
          </a:xfrm>
        </p:grpSpPr>
        <p:sp>
          <p:nvSpPr>
            <p:cNvPr id="1046" name="Freeform 27">
              <a:extLst>
                <a:ext uri="{FF2B5EF4-FFF2-40B4-BE49-F238E27FC236}">
                  <a16:creationId xmlns:a16="http://schemas.microsoft.com/office/drawing/2014/main" id="{7AD46C74-3117-46B0-B267-0F61B57CAC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7" name="Freeform 28">
              <a:extLst>
                <a:ext uri="{FF2B5EF4-FFF2-40B4-BE49-F238E27FC236}">
                  <a16:creationId xmlns:a16="http://schemas.microsoft.com/office/drawing/2014/main" id="{8C13B810-9664-45D8-8510-D6ED0ADD72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8" name="Freeform 29">
              <a:extLst>
                <a:ext uri="{FF2B5EF4-FFF2-40B4-BE49-F238E27FC236}">
                  <a16:creationId xmlns:a16="http://schemas.microsoft.com/office/drawing/2014/main" id="{10306E52-A922-4458-BCCE-C3C840CC75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49" name="Freeform 30">
              <a:extLst>
                <a:ext uri="{FF2B5EF4-FFF2-40B4-BE49-F238E27FC236}">
                  <a16:creationId xmlns:a16="http://schemas.microsoft.com/office/drawing/2014/main" id="{CB578819-B7E7-4250-932F-52AE2A2A9A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50" name="Freeform 31">
              <a:extLst>
                <a:ext uri="{FF2B5EF4-FFF2-40B4-BE49-F238E27FC236}">
                  <a16:creationId xmlns:a16="http://schemas.microsoft.com/office/drawing/2014/main" id="{454B9C91-B623-424A-B16E-F764F189D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51" name="Freeform 32">
              <a:extLst>
                <a:ext uri="{FF2B5EF4-FFF2-40B4-BE49-F238E27FC236}">
                  <a16:creationId xmlns:a16="http://schemas.microsoft.com/office/drawing/2014/main" id="{EFD03C4A-8484-41E6-B458-032F1DCA70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52" name="Freeform 33">
              <a:extLst>
                <a:ext uri="{FF2B5EF4-FFF2-40B4-BE49-F238E27FC236}">
                  <a16:creationId xmlns:a16="http://schemas.microsoft.com/office/drawing/2014/main" id="{DDC2F3C3-1D4E-4913-9C5C-F9A65B47E5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53" name="Freeform 34">
              <a:extLst>
                <a:ext uri="{FF2B5EF4-FFF2-40B4-BE49-F238E27FC236}">
                  <a16:creationId xmlns:a16="http://schemas.microsoft.com/office/drawing/2014/main" id="{1E15BCA2-2420-4C53-ADE9-40FBAC23844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54" name="Freeform 35">
              <a:extLst>
                <a:ext uri="{FF2B5EF4-FFF2-40B4-BE49-F238E27FC236}">
                  <a16:creationId xmlns:a16="http://schemas.microsoft.com/office/drawing/2014/main" id="{73D5FBF4-7129-4C51-B603-E3BC334195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55" name="Freeform 36">
              <a:extLst>
                <a:ext uri="{FF2B5EF4-FFF2-40B4-BE49-F238E27FC236}">
                  <a16:creationId xmlns:a16="http://schemas.microsoft.com/office/drawing/2014/main" id="{0165B164-CE2A-494C-88FC-507232B37C0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56" name="Freeform 37">
              <a:extLst>
                <a:ext uri="{FF2B5EF4-FFF2-40B4-BE49-F238E27FC236}">
                  <a16:creationId xmlns:a16="http://schemas.microsoft.com/office/drawing/2014/main" id="{87F127E5-B10B-4D18-BCF0-E7C3C7F401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1057" name="Freeform 38">
              <a:extLst>
                <a:ext uri="{FF2B5EF4-FFF2-40B4-BE49-F238E27FC236}">
                  <a16:creationId xmlns:a16="http://schemas.microsoft.com/office/drawing/2014/main" id="{FC692D59-F28D-4E42-B435-225F2C6CFA3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059" name="Rectangle 1058">
            <a:extLst>
              <a:ext uri="{FF2B5EF4-FFF2-40B4-BE49-F238E27FC236}">
                <a16:creationId xmlns:a16="http://schemas.microsoft.com/office/drawing/2014/main" id="{1996130F-9AB5-4DE9-8574-3AF891C5C1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19456" cy="82296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1061" name="Freeform 6">
            <a:extLst>
              <a:ext uri="{FF2B5EF4-FFF2-40B4-BE49-F238E27FC236}">
                <a16:creationId xmlns:a16="http://schemas.microsoft.com/office/drawing/2014/main" id="{3623DEAC-F39C-45D6-86DC-1033F64295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0" y="5188572"/>
            <a:ext cx="2093582" cy="934306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pt-BR"/>
          </a:p>
        </p:txBody>
      </p:sp>
      <p:sp useBgFill="1">
        <p:nvSpPr>
          <p:cNvPr id="1063" name="Rectangle 1062">
            <a:extLst>
              <a:ext uri="{FF2B5EF4-FFF2-40B4-BE49-F238E27FC236}">
                <a16:creationId xmlns:a16="http://schemas.microsoft.com/office/drawing/2014/main" id="{A692209D-B607-46C3-8560-07AF72291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943"/>
            <a:ext cx="14630400" cy="822484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5" name="Rectangle 1064">
            <a:extLst>
              <a:ext uri="{FF2B5EF4-FFF2-40B4-BE49-F238E27FC236}">
                <a16:creationId xmlns:a16="http://schemas.microsoft.com/office/drawing/2014/main" id="{94874638-CF15-4908-BC4B-4908744D0B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5567680" cy="8229600"/>
          </a:xfrm>
          <a:prstGeom prst="rect">
            <a:avLst/>
          </a:prstGeom>
          <a:solidFill>
            <a:schemeClr val="tx2">
              <a:lumMod val="50000"/>
              <a:alpha val="9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pt-BR"/>
          </a:p>
        </p:txBody>
      </p:sp>
      <p:sp>
        <p:nvSpPr>
          <p:cNvPr id="3" name="Text 0"/>
          <p:cNvSpPr/>
          <p:nvPr/>
        </p:nvSpPr>
        <p:spPr>
          <a:xfrm>
            <a:off x="648334" y="1160900"/>
            <a:ext cx="4534644" cy="47319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spcBef>
                <a:spcPct val="0"/>
              </a:spcBef>
              <a:spcAft>
                <a:spcPts val="600"/>
              </a:spcAft>
            </a:pPr>
            <a:r>
              <a:rPr lang="en-US" sz="4800" b="1">
                <a:solidFill>
                  <a:srgbClr val="FEFFFF"/>
                </a:solidFill>
                <a:latin typeface="+mj-lt"/>
                <a:ea typeface="+mj-ea"/>
                <a:cs typeface="+mj-cs"/>
              </a:rPr>
              <a:t> Multiplicação de Matrizes com CUDA: Otimização e Benchmark</a:t>
            </a:r>
          </a:p>
        </p:txBody>
      </p:sp>
      <p:sp>
        <p:nvSpPr>
          <p:cNvPr id="1067" name="Freeform 5">
            <a:extLst>
              <a:ext uri="{FF2B5EF4-FFF2-40B4-BE49-F238E27FC236}">
                <a16:creationId xmlns:a16="http://schemas.microsoft.com/office/drawing/2014/main" id="{5F1B8348-CD6E-4561-A704-C232D9A267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6039608"/>
            <a:ext cx="6484826" cy="1028456"/>
          </a:xfrm>
          <a:custGeom>
            <a:avLst/>
            <a:gdLst>
              <a:gd name="T0" fmla="*/ 1114 w 1117"/>
              <a:gd name="T1" fmla="*/ 77 h 163"/>
              <a:gd name="T2" fmla="*/ 1040 w 1117"/>
              <a:gd name="T3" fmla="*/ 3 h 163"/>
              <a:gd name="T4" fmla="*/ 1039 w 1117"/>
              <a:gd name="T5" fmla="*/ 2 h 163"/>
              <a:gd name="T6" fmla="*/ 1034 w 1117"/>
              <a:gd name="T7" fmla="*/ 0 h 163"/>
              <a:gd name="T8" fmla="*/ 578 w 1117"/>
              <a:gd name="T9" fmla="*/ 0 h 163"/>
              <a:gd name="T10" fmla="*/ 562 w 1117"/>
              <a:gd name="T11" fmla="*/ 0 h 163"/>
              <a:gd name="T12" fmla="*/ 440 w 1117"/>
              <a:gd name="T13" fmla="*/ 0 h 163"/>
              <a:gd name="T14" fmla="*/ 106 w 1117"/>
              <a:gd name="T15" fmla="*/ 0 h 163"/>
              <a:gd name="T16" fmla="*/ 0 w 1117"/>
              <a:gd name="T17" fmla="*/ 0 h 163"/>
              <a:gd name="T18" fmla="*/ 0 w 1117"/>
              <a:gd name="T19" fmla="*/ 163 h 163"/>
              <a:gd name="T20" fmla="*/ 106 w 1117"/>
              <a:gd name="T21" fmla="*/ 163 h 163"/>
              <a:gd name="T22" fmla="*/ 440 w 1117"/>
              <a:gd name="T23" fmla="*/ 163 h 163"/>
              <a:gd name="T24" fmla="*/ 562 w 1117"/>
              <a:gd name="T25" fmla="*/ 163 h 163"/>
              <a:gd name="T26" fmla="*/ 578 w 1117"/>
              <a:gd name="T27" fmla="*/ 163 h 163"/>
              <a:gd name="T28" fmla="*/ 1034 w 1117"/>
              <a:gd name="T29" fmla="*/ 163 h 163"/>
              <a:gd name="T30" fmla="*/ 1039 w 1117"/>
              <a:gd name="T31" fmla="*/ 161 h 163"/>
              <a:gd name="T32" fmla="*/ 1040 w 1117"/>
              <a:gd name="T33" fmla="*/ 160 h 163"/>
              <a:gd name="T34" fmla="*/ 1114 w 1117"/>
              <a:gd name="T35" fmla="*/ 86 h 163"/>
              <a:gd name="T36" fmla="*/ 1114 w 1117"/>
              <a:gd name="T37" fmla="*/ 77 h 1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1117" h="163">
                <a:moveTo>
                  <a:pt x="1114" y="77"/>
                </a:moveTo>
                <a:cubicBezTo>
                  <a:pt x="1040" y="3"/>
                  <a:pt x="1040" y="3"/>
                  <a:pt x="1040" y="3"/>
                </a:cubicBezTo>
                <a:cubicBezTo>
                  <a:pt x="1040" y="2"/>
                  <a:pt x="1039" y="2"/>
                  <a:pt x="1039" y="2"/>
                </a:cubicBezTo>
                <a:cubicBezTo>
                  <a:pt x="1038" y="1"/>
                  <a:pt x="1036" y="0"/>
                  <a:pt x="1034" y="0"/>
                </a:cubicBezTo>
                <a:cubicBezTo>
                  <a:pt x="578" y="0"/>
                  <a:pt x="578" y="0"/>
                  <a:pt x="578" y="0"/>
                </a:cubicBezTo>
                <a:cubicBezTo>
                  <a:pt x="562" y="0"/>
                  <a:pt x="562" y="0"/>
                  <a:pt x="562" y="0"/>
                </a:cubicBezTo>
                <a:cubicBezTo>
                  <a:pt x="440" y="0"/>
                  <a:pt x="440" y="0"/>
                  <a:pt x="440" y="0"/>
                </a:cubicBezTo>
                <a:cubicBezTo>
                  <a:pt x="106" y="0"/>
                  <a:pt x="106" y="0"/>
                  <a:pt x="10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3"/>
                  <a:pt x="0" y="163"/>
                  <a:pt x="0" y="163"/>
                </a:cubicBezTo>
                <a:cubicBezTo>
                  <a:pt x="106" y="163"/>
                  <a:pt x="106" y="163"/>
                  <a:pt x="106" y="163"/>
                </a:cubicBezTo>
                <a:cubicBezTo>
                  <a:pt x="440" y="163"/>
                  <a:pt x="440" y="163"/>
                  <a:pt x="440" y="163"/>
                </a:cubicBezTo>
                <a:cubicBezTo>
                  <a:pt x="562" y="163"/>
                  <a:pt x="562" y="163"/>
                  <a:pt x="562" y="163"/>
                </a:cubicBezTo>
                <a:cubicBezTo>
                  <a:pt x="578" y="163"/>
                  <a:pt x="578" y="163"/>
                  <a:pt x="578" y="163"/>
                </a:cubicBezTo>
                <a:cubicBezTo>
                  <a:pt x="1034" y="163"/>
                  <a:pt x="1034" y="163"/>
                  <a:pt x="1034" y="163"/>
                </a:cubicBezTo>
                <a:cubicBezTo>
                  <a:pt x="1036" y="163"/>
                  <a:pt x="1038" y="162"/>
                  <a:pt x="1039" y="161"/>
                </a:cubicBezTo>
                <a:cubicBezTo>
                  <a:pt x="1039" y="160"/>
                  <a:pt x="1040" y="160"/>
                  <a:pt x="1040" y="160"/>
                </a:cubicBezTo>
                <a:cubicBezTo>
                  <a:pt x="1114" y="86"/>
                  <a:pt x="1114" y="86"/>
                  <a:pt x="1114" y="86"/>
                </a:cubicBezTo>
                <a:cubicBezTo>
                  <a:pt x="1117" y="83"/>
                  <a:pt x="1117" y="79"/>
                  <a:pt x="1114" y="77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648334" y="6227280"/>
            <a:ext cx="4534644" cy="6531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  <a:buClr>
                <a:schemeClr val="accent1"/>
              </a:buClr>
            </a:pPr>
            <a:r>
              <a:rPr lang="en-US" sz="1900">
                <a:solidFill>
                  <a:srgbClr val="FEFFFF"/>
                </a:solidFill>
              </a:rPr>
              <a:t>Comparativo entre CPU e GPU com técnicas de paralelismo massivo</a:t>
            </a:r>
          </a:p>
        </p:txBody>
      </p:sp>
      <p:pic>
        <p:nvPicPr>
          <p:cNvPr id="1026" name="Picture 2" descr="NVIDIA CUDA: o que é e como funciona | Computacao-grafica">
            <a:extLst>
              <a:ext uri="{FF2B5EF4-FFF2-40B4-BE49-F238E27FC236}">
                <a16:creationId xmlns:a16="http://schemas.microsoft.com/office/drawing/2014/main" id="{F4870814-856E-6DD8-3184-5863FA599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683633" y="206746"/>
            <a:ext cx="6768603" cy="40950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4C821EA0-C1C4-53ED-386E-B56872602768}"/>
              </a:ext>
            </a:extLst>
          </p:cNvPr>
          <p:cNvSpPr txBox="1"/>
          <p:nvPr/>
        </p:nvSpPr>
        <p:spPr>
          <a:xfrm>
            <a:off x="8782050" y="5405088"/>
            <a:ext cx="309251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Grupo: Celso Bezerra</a:t>
            </a:r>
          </a:p>
          <a:p>
            <a:r>
              <a:rPr lang="pt-BR" dirty="0"/>
              <a:t>		Henrique Guerra</a:t>
            </a:r>
          </a:p>
          <a:p>
            <a:r>
              <a:rPr lang="pt-BR" dirty="0"/>
              <a:t>		João Victor Vieira</a:t>
            </a:r>
          </a:p>
          <a:p>
            <a:r>
              <a:rPr lang="pt-BR" dirty="0"/>
              <a:t>		Ricardo Costa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5A9CB87-5FD5-A543-DECF-B199ACD01494}"/>
              </a:ext>
            </a:extLst>
          </p:cNvPr>
          <p:cNvSpPr txBox="1"/>
          <p:nvPr/>
        </p:nvSpPr>
        <p:spPr>
          <a:xfrm>
            <a:off x="14287500" y="780455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505218" y="185500"/>
            <a:ext cx="7570946" cy="1404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Objetivo</a:t>
            </a:r>
            <a:r>
              <a:rPr lang="en-US" sz="440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 do </a:t>
            </a:r>
            <a:r>
              <a:rPr lang="en-US" sz="440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Projeto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272927" y="2359581"/>
            <a:ext cx="7570946" cy="21574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72927" y="4769763"/>
            <a:ext cx="7570946" cy="131016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r>
              <a:rPr lang="pt-BR" dirty="0"/>
              <a:t>Comparar desempenho CPU x GPU (tempo, GFLOPS, </a:t>
            </a:r>
            <a:r>
              <a:rPr lang="pt-BR" dirty="0" err="1"/>
              <a:t>speedup</a:t>
            </a:r>
            <a:r>
              <a:rPr lang="pt-BR" dirty="0"/>
              <a:t>)</a:t>
            </a:r>
          </a:p>
        </p:txBody>
      </p:sp>
      <p:sp>
        <p:nvSpPr>
          <p:cNvPr id="6" name="Text 3"/>
          <p:cNvSpPr/>
          <p:nvPr/>
        </p:nvSpPr>
        <p:spPr>
          <a:xfrm>
            <a:off x="6505218" y="5002054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05218" y="5488067"/>
            <a:ext cx="710636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72927" y="6304597"/>
            <a:ext cx="7570946" cy="131016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r>
              <a:rPr lang="pt-BR" dirty="0"/>
              <a:t>Garantir precisão numérica e reprodutibilidade via benchmarks</a:t>
            </a:r>
          </a:p>
        </p:txBody>
      </p:sp>
      <p:sp>
        <p:nvSpPr>
          <p:cNvPr id="9" name="Text 6"/>
          <p:cNvSpPr/>
          <p:nvPr/>
        </p:nvSpPr>
        <p:spPr>
          <a:xfrm>
            <a:off x="6505218" y="6536888"/>
            <a:ext cx="2809280" cy="351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05218" y="7022902"/>
            <a:ext cx="7106364" cy="3595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endParaRPr lang="en-US" sz="1750" dirty="0"/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CC2667F6-08A8-19CC-5D5D-9642D0A65493}"/>
              </a:ext>
            </a:extLst>
          </p:cNvPr>
          <p:cNvSpPr txBox="1"/>
          <p:nvPr/>
        </p:nvSpPr>
        <p:spPr>
          <a:xfrm>
            <a:off x="-79181" y="7860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2</a:t>
            </a:r>
          </a:p>
        </p:txBody>
      </p:sp>
      <p:sp>
        <p:nvSpPr>
          <p:cNvPr id="13" name="Shape 2">
            <a:extLst>
              <a:ext uri="{FF2B5EF4-FFF2-40B4-BE49-F238E27FC236}">
                <a16:creationId xmlns:a16="http://schemas.microsoft.com/office/drawing/2014/main" id="{461BC59D-7BEA-5392-A0D5-0E193F2087DD}"/>
              </a:ext>
            </a:extLst>
          </p:cNvPr>
          <p:cNvSpPr/>
          <p:nvPr/>
        </p:nvSpPr>
        <p:spPr>
          <a:xfrm>
            <a:off x="6272927" y="3163669"/>
            <a:ext cx="7570946" cy="131016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r>
              <a:rPr lang="pt-BR" dirty="0"/>
              <a:t>Aplicar paralelismo massivo e otimizações de memória</a:t>
            </a:r>
          </a:p>
        </p:txBody>
      </p:sp>
      <p:sp>
        <p:nvSpPr>
          <p:cNvPr id="14" name="Shape 2">
            <a:extLst>
              <a:ext uri="{FF2B5EF4-FFF2-40B4-BE49-F238E27FC236}">
                <a16:creationId xmlns:a16="http://schemas.microsoft.com/office/drawing/2014/main" id="{7FEEF2D6-9577-7470-3035-FA9EB9EB5D7D}"/>
              </a:ext>
            </a:extLst>
          </p:cNvPr>
          <p:cNvSpPr/>
          <p:nvPr/>
        </p:nvSpPr>
        <p:spPr>
          <a:xfrm>
            <a:off x="6272927" y="1557575"/>
            <a:ext cx="7570946" cy="1310164"/>
          </a:xfrm>
          <a:prstGeom prst="roundRect">
            <a:avLst>
              <a:gd name="adj" fmla="val 7205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r>
              <a:rPr lang="pt-BR" dirty="0"/>
              <a:t>Implementar o algoritmo de multiplicação de matrizes em CUDA C++</a:t>
            </a:r>
          </a:p>
        </p:txBody>
      </p:sp>
      <p:pic>
        <p:nvPicPr>
          <p:cNvPr id="2052" name="Picture 4" descr="Hello, CUDA++ | migo::blog">
            <a:extLst>
              <a:ext uri="{FF2B5EF4-FFF2-40B4-BE49-F238E27FC236}">
                <a16:creationId xmlns:a16="http://schemas.microsoft.com/office/drawing/2014/main" id="{64ED22C0-17BE-C13F-09CE-520366657E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8818" y="2001679"/>
            <a:ext cx="4009311" cy="40093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5557" y="648414"/>
            <a:ext cx="4611529" cy="5763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50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Contexto</a:t>
            </a:r>
            <a:r>
              <a:rPr lang="en-US" sz="360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 e </a:t>
            </a:r>
            <a:r>
              <a:rPr lang="en-US" sz="360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Motivação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645557" y="1501378"/>
            <a:ext cx="7852886" cy="8851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5" name="Shape 2"/>
          <p:cNvSpPr/>
          <p:nvPr/>
        </p:nvSpPr>
        <p:spPr>
          <a:xfrm>
            <a:off x="645557" y="2593896"/>
            <a:ext cx="7852886" cy="1108472"/>
          </a:xfrm>
          <a:prstGeom prst="roundRect">
            <a:avLst>
              <a:gd name="adj" fmla="val 698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6" name="Text 3"/>
          <p:cNvSpPr/>
          <p:nvPr/>
        </p:nvSpPr>
        <p:spPr>
          <a:xfrm>
            <a:off x="852845" y="280118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A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multiplicação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de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matrizes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é fundamental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em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computação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científica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, </a:t>
            </a:r>
          </a:p>
          <a:p>
            <a:pPr marL="0" indent="0" algn="l">
              <a:lnSpc>
                <a:spcPts val="2250"/>
              </a:lnSpc>
              <a:buNone/>
            </a:pPr>
            <a:r>
              <a:rPr lang="en-US" sz="1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IA e </a:t>
            </a:r>
            <a:r>
              <a:rPr lang="en-US" sz="1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gráficos</a:t>
            </a:r>
            <a:r>
              <a:rPr lang="en-US" sz="1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.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52845" y="3200043"/>
            <a:ext cx="743831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45557" y="3886795"/>
            <a:ext cx="7852886" cy="1108472"/>
          </a:xfrm>
          <a:prstGeom prst="roundRect">
            <a:avLst>
              <a:gd name="adj" fmla="val 698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Text 6"/>
          <p:cNvSpPr/>
          <p:nvPr/>
        </p:nvSpPr>
        <p:spPr>
          <a:xfrm>
            <a:off x="852845" y="409408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Altamente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paralelizável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-&gt;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cada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elemento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C[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i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][j] é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independente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.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52845" y="4492942"/>
            <a:ext cx="743831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438270" y="5133618"/>
            <a:ext cx="7852886" cy="1108472"/>
          </a:xfrm>
          <a:prstGeom prst="roundRect">
            <a:avLst>
              <a:gd name="adj" fmla="val 698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2" name="Text 9"/>
          <p:cNvSpPr/>
          <p:nvPr/>
        </p:nvSpPr>
        <p:spPr>
          <a:xfrm>
            <a:off x="852845" y="538698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O CUDA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permite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explorer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milhares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de threads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simultâneos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</a:t>
            </a:r>
            <a:r>
              <a:rPr lang="en-US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na</a:t>
            </a:r>
            <a:r>
              <a:rPr lang="en-US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GPU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52845" y="5785842"/>
            <a:ext cx="743831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45557" y="6472595"/>
            <a:ext cx="7852886" cy="1108472"/>
          </a:xfrm>
          <a:prstGeom prst="roundRect">
            <a:avLst>
              <a:gd name="adj" fmla="val 6989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 dirty="0"/>
          </a:p>
        </p:txBody>
      </p:sp>
      <p:sp>
        <p:nvSpPr>
          <p:cNvPr id="15" name="Text 12"/>
          <p:cNvSpPr/>
          <p:nvPr/>
        </p:nvSpPr>
        <p:spPr>
          <a:xfrm>
            <a:off x="852845" y="6679883"/>
            <a:ext cx="2305764" cy="288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50"/>
              </a:lnSpc>
              <a:buNone/>
            </a:pPr>
            <a:r>
              <a:rPr lang="en-US" sz="1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Objetivo</a:t>
            </a:r>
            <a:r>
              <a:rPr lang="en-US" sz="1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: </a:t>
            </a:r>
            <a:r>
              <a:rPr lang="en-US" sz="1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demonstrar</a:t>
            </a:r>
            <a:r>
              <a:rPr lang="en-US" sz="1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</a:t>
            </a:r>
            <a:r>
              <a:rPr lang="en-US" sz="1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como</a:t>
            </a:r>
            <a:r>
              <a:rPr lang="en-US" sz="1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o </a:t>
            </a:r>
            <a:r>
              <a:rPr lang="en-US" sz="1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uso</a:t>
            </a:r>
            <a:r>
              <a:rPr lang="en-US" sz="1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de CUDA </a:t>
            </a:r>
            <a:r>
              <a:rPr lang="en-US" sz="1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acelera</a:t>
            </a:r>
            <a:r>
              <a:rPr lang="en-US" sz="1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um </a:t>
            </a:r>
            <a:r>
              <a:rPr lang="en-US" sz="1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problema</a:t>
            </a:r>
            <a:r>
              <a:rPr lang="en-US" sz="1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</a:t>
            </a:r>
            <a:endParaRPr lang="en-US" b="1" dirty="0">
              <a:solidFill>
                <a:srgbClr val="272525"/>
              </a:solidFill>
              <a:latin typeface="Aptos Black" panose="020B0004020202020204" pitchFamily="34" charset="0"/>
              <a:ea typeface="Inter Bold" pitchFamily="34" charset="-122"/>
            </a:endParaRPr>
          </a:p>
          <a:p>
            <a:pPr marL="0" indent="0" algn="l">
              <a:lnSpc>
                <a:spcPts val="2250"/>
              </a:lnSpc>
              <a:buNone/>
            </a:pPr>
            <a:r>
              <a:rPr lang="en-US" sz="1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clássico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852845" y="7078742"/>
            <a:ext cx="7438311" cy="2950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endParaRPr lang="en-US" sz="1450" dirty="0"/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C3A0E2C-5609-5454-9383-B344C035E4C2}"/>
              </a:ext>
            </a:extLst>
          </p:cNvPr>
          <p:cNvSpPr txBox="1"/>
          <p:nvPr/>
        </p:nvSpPr>
        <p:spPr>
          <a:xfrm>
            <a:off x="0" y="7745731"/>
            <a:ext cx="2095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603790" y="330875"/>
            <a:ext cx="9759910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O </a:t>
            </a:r>
            <a:r>
              <a:rPr lang="en-US" sz="445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Problema</a:t>
            </a:r>
            <a:endParaRPr lang="en-US" sz="4450" dirty="0">
              <a:latin typeface="Aptos Black" panose="020B00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506153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6543095" y="505616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760178A-67EC-B304-8737-8AC1A3EEDA02}"/>
              </a:ext>
            </a:extLst>
          </p:cNvPr>
          <p:cNvSpPr txBox="1"/>
          <p:nvPr/>
        </p:nvSpPr>
        <p:spPr>
          <a:xfrm>
            <a:off x="-39331" y="7893721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4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64585AB-1CBC-1D89-025E-026FA86745ED}"/>
              </a:ext>
            </a:extLst>
          </p:cNvPr>
          <p:cNvSpPr txBox="1"/>
          <p:nvPr/>
        </p:nvSpPr>
        <p:spPr>
          <a:xfrm>
            <a:off x="3134247" y="2884052"/>
            <a:ext cx="63626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 </a:t>
            </a:r>
            <a:r>
              <a:rPr lang="pt-BR" sz="2800" dirty="0"/>
              <a:t>C[i][j] =</a:t>
            </a:r>
            <a:r>
              <a:rPr lang="pl-PL" sz="2800" dirty="0"/>
              <a:t>C[i][j]=k=0∑K−1​A[i][k]×B[k][j</a:t>
            </a:r>
            <a:r>
              <a:rPr lang="pt-BR" sz="2800" dirty="0"/>
              <a:t>]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7A0D90CD-C638-AA5D-6C64-D4A7D75EE382}"/>
              </a:ext>
            </a:extLst>
          </p:cNvPr>
          <p:cNvSpPr txBox="1"/>
          <p:nvPr/>
        </p:nvSpPr>
        <p:spPr>
          <a:xfrm>
            <a:off x="1040709" y="1501885"/>
            <a:ext cx="541045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/>
              <a:t>Multiplicação de Matrizes: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0B5A49E0-026A-0B39-33F6-980D1C29F048}"/>
              </a:ext>
            </a:extLst>
          </p:cNvPr>
          <p:cNvSpPr txBox="1"/>
          <p:nvPr/>
        </p:nvSpPr>
        <p:spPr>
          <a:xfrm>
            <a:off x="621609" y="4232911"/>
            <a:ext cx="670247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Entradas: Matrizes A(M x K) e B (K x N)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5F74FD7D-78E3-812A-3107-093143F2909F}"/>
              </a:ext>
            </a:extLst>
          </p:cNvPr>
          <p:cNvSpPr txBox="1"/>
          <p:nvPr/>
        </p:nvSpPr>
        <p:spPr>
          <a:xfrm>
            <a:off x="725557" y="4959669"/>
            <a:ext cx="40254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Saída: Matriz C(M x N)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7EE52D34-49C4-34D0-B97E-8D7947239EA6}"/>
              </a:ext>
            </a:extLst>
          </p:cNvPr>
          <p:cNvSpPr txBox="1"/>
          <p:nvPr/>
        </p:nvSpPr>
        <p:spPr>
          <a:xfrm>
            <a:off x="660796" y="5994441"/>
            <a:ext cx="6170279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Performance desejada: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Mínimo tempo de execução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Alto </a:t>
            </a:r>
            <a:r>
              <a:rPr lang="pt-BR" sz="2800" dirty="0" err="1"/>
              <a:t>throughput</a:t>
            </a:r>
            <a:r>
              <a:rPr lang="pt-BR" sz="2800" dirty="0"/>
              <a:t> (GFLOPS)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800" dirty="0"/>
              <a:t>Precisão dentro de erro &lt;= 10^-6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775930" y="609600"/>
            <a:ext cx="6790730" cy="692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5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BASELINE SEQUENCIAL (CPU)</a:t>
            </a:r>
            <a:endParaRPr lang="en-US" sz="4350" dirty="0">
              <a:latin typeface="Aptos Black" panose="020B0004020202020204" pitchFamily="34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75930" y="1634847"/>
            <a:ext cx="221694" cy="1330166"/>
          </a:xfrm>
          <a:prstGeom prst="roundRect">
            <a:avLst>
              <a:gd name="adj" fmla="val 4200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Text 2"/>
          <p:cNvSpPr/>
          <p:nvPr/>
        </p:nvSpPr>
        <p:spPr>
          <a:xfrm>
            <a:off x="1219319" y="1856542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Implementação</a:t>
            </a:r>
            <a:r>
              <a:rPr lang="en-US" sz="2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simples</a:t>
            </a:r>
            <a:endParaRPr lang="en-US" sz="2800" dirty="0">
              <a:latin typeface="Aptos Black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330166" y="2336006"/>
            <a:ext cx="7148751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 err="1">
                <a:solidFill>
                  <a:srgbClr val="272525"/>
                </a:solidFill>
                <a:ea typeface="Inter" pitchFamily="34" charset="-122"/>
              </a:rPr>
              <a:t>Três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</a:rPr>
              <a:t> 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</a:rPr>
              <a:t>laços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</a:rPr>
              <a:t> (I, j, k).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1108472" y="3186708"/>
            <a:ext cx="221694" cy="1330166"/>
          </a:xfrm>
          <a:prstGeom prst="roundRect">
            <a:avLst>
              <a:gd name="adj" fmla="val 4200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5"/>
          <p:cNvSpPr/>
          <p:nvPr/>
        </p:nvSpPr>
        <p:spPr>
          <a:xfrm>
            <a:off x="1551861" y="3465076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Cálculo</a:t>
            </a:r>
            <a:r>
              <a:rPr lang="en-US" sz="2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 </a:t>
            </a:r>
            <a:r>
              <a:rPr lang="en-US" sz="2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validado</a:t>
            </a:r>
            <a:endParaRPr lang="en-US" sz="2800" dirty="0">
              <a:latin typeface="Aptos Black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524595" y="3920370"/>
            <a:ext cx="6816209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272525"/>
                </a:solidFill>
                <a:ea typeface="Inter" pitchFamily="34" charset="-122"/>
              </a:rPr>
              <a:t>Para 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</a:rPr>
              <a:t>servir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</a:rPr>
              <a:t> 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</a:rPr>
              <a:t>como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</a:rPr>
              <a:t> 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</a:rPr>
              <a:t>referência</a:t>
            </a:r>
            <a:r>
              <a:rPr lang="en-US" sz="1700" dirty="0">
                <a:solidFill>
                  <a:srgbClr val="272525"/>
                </a:solidFill>
                <a:ea typeface="Inter" pitchFamily="34" charset="-122"/>
              </a:rPr>
              <a:t>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1441013" y="4738568"/>
            <a:ext cx="221694" cy="1330166"/>
          </a:xfrm>
          <a:prstGeom prst="roundRect">
            <a:avLst>
              <a:gd name="adj" fmla="val 4200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/>
          <p:nvPr/>
        </p:nvSpPr>
        <p:spPr>
          <a:xfrm>
            <a:off x="1884402" y="4960263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Medições</a:t>
            </a:r>
            <a:r>
              <a:rPr lang="en-US" sz="2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com std::chrono</a:t>
            </a:r>
            <a:endParaRPr lang="en-US" sz="2800" dirty="0">
              <a:latin typeface="Aptos Black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884402" y="5439728"/>
            <a:ext cx="6483668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272525"/>
                </a:solidFill>
                <a:ea typeface="Inter" pitchFamily="34" charset="-122"/>
              </a:rPr>
              <a:t>Tempo 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</a:rPr>
              <a:t>médio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</a:rPr>
              <a:t> 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</a:rPr>
              <a:t>em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</a:rPr>
              <a:t> 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</a:rPr>
              <a:t>milissegundos</a:t>
            </a:r>
            <a:r>
              <a:rPr lang="en-US" sz="1700" dirty="0">
                <a:solidFill>
                  <a:srgbClr val="272525"/>
                </a:solidFill>
                <a:ea typeface="Inter" pitchFamily="34" charset="-122"/>
              </a:rPr>
              <a:t>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1773555" y="6290429"/>
            <a:ext cx="221694" cy="1330166"/>
          </a:xfrm>
          <a:prstGeom prst="roundRect">
            <a:avLst>
              <a:gd name="adj" fmla="val 42000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1"/>
          <p:cNvSpPr/>
          <p:nvPr/>
        </p:nvSpPr>
        <p:spPr>
          <a:xfrm>
            <a:off x="2216944" y="6512123"/>
            <a:ext cx="2980968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Serve </a:t>
            </a:r>
            <a:r>
              <a:rPr lang="en-US" sz="2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como</a:t>
            </a:r>
            <a:r>
              <a:rPr lang="en-US" sz="28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 baseline </a:t>
            </a:r>
            <a:r>
              <a:rPr lang="en-US" sz="2800" b="1" dirty="0" err="1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</a:rPr>
              <a:t>comparativo</a:t>
            </a:r>
            <a:endParaRPr lang="en-US" sz="2800" dirty="0">
              <a:latin typeface="Aptos Black" panose="020B0004020202020204" pitchFamily="34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2216944" y="6991588"/>
            <a:ext cx="6151126" cy="3546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4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Para </a:t>
            </a:r>
            <a:r>
              <a:rPr lang="en-US" sz="2400" dirty="0" err="1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medir</a:t>
            </a:r>
            <a:r>
              <a:rPr lang="en-US" sz="24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 speedup da GPU</a:t>
            </a:r>
            <a:r>
              <a:rPr lang="en-US" sz="1700" dirty="0">
                <a:solidFill>
                  <a:srgbClr val="272525"/>
                </a:solidFill>
                <a:ea typeface="Inter" pitchFamily="34" charset="-122"/>
                <a:cs typeface="Inter" pitchFamily="34" charset="-120"/>
              </a:rPr>
              <a:t>.</a:t>
            </a:r>
            <a:endParaRPr lang="en-US" sz="1700" dirty="0"/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31D2BADC-2831-D342-773D-481C751E3671}"/>
              </a:ext>
            </a:extLst>
          </p:cNvPr>
          <p:cNvSpPr txBox="1"/>
          <p:nvPr/>
        </p:nvSpPr>
        <p:spPr>
          <a:xfrm>
            <a:off x="0" y="7860268"/>
            <a:ext cx="3129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5</a:t>
            </a:r>
          </a:p>
          <a:p>
            <a:endParaRPr lang="pt-BR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60571"/>
            <a:ext cx="806612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Implementação</a:t>
            </a:r>
            <a:r>
              <a:rPr lang="en-US" sz="445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 CUDA</a:t>
            </a:r>
            <a:endParaRPr lang="en-US" sz="4450" dirty="0">
              <a:latin typeface="Aptos Black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92297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  <p:sp>
        <p:nvSpPr>
          <p:cNvPr id="4" name="Text 2"/>
          <p:cNvSpPr/>
          <p:nvPr/>
        </p:nvSpPr>
        <p:spPr>
          <a:xfrm>
            <a:off x="1857256" y="3533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3790" y="4023836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8" name="Text 4"/>
          <p:cNvSpPr/>
          <p:nvPr/>
        </p:nvSpPr>
        <p:spPr>
          <a:xfrm>
            <a:off x="9937790" y="353341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9859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1857256" y="598598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7" name="Text 9"/>
          <p:cNvSpPr/>
          <p:nvPr/>
        </p:nvSpPr>
        <p:spPr>
          <a:xfrm>
            <a:off x="793790" y="6476405"/>
            <a:ext cx="389870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D6368C0A-E2B1-0E46-C9D8-B84CD195DD1A}"/>
              </a:ext>
            </a:extLst>
          </p:cNvPr>
          <p:cNvSpPr txBox="1"/>
          <p:nvPr/>
        </p:nvSpPr>
        <p:spPr>
          <a:xfrm>
            <a:off x="0" y="7860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6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4EE5647E-6D06-BD62-DE27-C6B21564AC4C}"/>
              </a:ext>
            </a:extLst>
          </p:cNvPr>
          <p:cNvSpPr txBox="1"/>
          <p:nvPr/>
        </p:nvSpPr>
        <p:spPr>
          <a:xfrm>
            <a:off x="793790" y="2263497"/>
            <a:ext cx="7858241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Etapas principais:</a:t>
            </a:r>
          </a:p>
          <a:p>
            <a:endParaRPr lang="pt-BR" sz="2800" dirty="0"/>
          </a:p>
          <a:p>
            <a:pPr marL="514350" indent="-514350">
              <a:buAutoNum type="arabicPeriod"/>
            </a:pPr>
            <a:r>
              <a:rPr lang="pt-BR" sz="2800" dirty="0"/>
              <a:t>Alocação e cópia de dados CPU -&gt; GPU</a:t>
            </a:r>
          </a:p>
          <a:p>
            <a:pPr marL="514350" indent="-514350">
              <a:buAutoNum type="arabicPeriod"/>
            </a:pPr>
            <a:r>
              <a:rPr lang="pt-BR" sz="2800" dirty="0"/>
              <a:t>Execução do kernel CUDA</a:t>
            </a:r>
          </a:p>
          <a:p>
            <a:pPr marL="514350" indent="-514350">
              <a:buAutoNum type="arabicPeriod"/>
            </a:pPr>
            <a:r>
              <a:rPr lang="pt-BR" sz="2800" dirty="0"/>
              <a:t>Cópia do resultado GPU -&gt; CPU</a:t>
            </a:r>
          </a:p>
          <a:p>
            <a:pPr marL="514350" indent="-514350">
              <a:buAutoNum type="arabicPeriod"/>
            </a:pPr>
            <a:r>
              <a:rPr lang="pt-BR" sz="2800" dirty="0"/>
              <a:t>Comparação com resultado CPU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B514B97-FC2D-6AA0-4635-AA2689908883}"/>
              </a:ext>
            </a:extLst>
          </p:cNvPr>
          <p:cNvSpPr txBox="1"/>
          <p:nvPr/>
        </p:nvSpPr>
        <p:spPr>
          <a:xfrm>
            <a:off x="793790" y="5255210"/>
            <a:ext cx="9025228" cy="18158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Kernel: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Divide o problema em grids e </a:t>
            </a:r>
            <a:r>
              <a:rPr lang="pt-BR" sz="2800" dirty="0" err="1"/>
              <a:t>blocks</a:t>
            </a:r>
            <a:r>
              <a:rPr lang="pt-BR" sz="2800" dirty="0"/>
              <a:t> (TILE x TILE).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Cada thread calcula um elemento de C.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CACE579-A2C1-8F47-7230-1877B877DCF0}"/>
              </a:ext>
            </a:extLst>
          </p:cNvPr>
          <p:cNvSpPr txBox="1"/>
          <p:nvPr/>
        </p:nvSpPr>
        <p:spPr>
          <a:xfrm>
            <a:off x="793790" y="7658100"/>
            <a:ext cx="115836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Usa memória compartilhada e sincronização com _</a:t>
            </a:r>
            <a:r>
              <a:rPr lang="pt-BR" sz="2800" dirty="0" err="1"/>
              <a:t>syncthreads</a:t>
            </a:r>
            <a:r>
              <a:rPr lang="pt-BR" sz="2800" dirty="0"/>
              <a:t>().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163133" y="290096"/>
            <a:ext cx="6993731" cy="611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00"/>
              </a:lnSpc>
              <a:buNone/>
            </a:pPr>
            <a:r>
              <a:rPr lang="en-US" sz="385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Estratégias</a:t>
            </a:r>
            <a:r>
              <a:rPr lang="en-US" sz="385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 de </a:t>
            </a:r>
            <a:r>
              <a:rPr lang="en-US" sz="385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Paralelização</a:t>
            </a:r>
            <a:endParaRPr lang="en-US" sz="3850" dirty="0">
              <a:latin typeface="Aptos Black" panose="020B00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3520856" y="1415950"/>
            <a:ext cx="7774781" cy="6257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6" name="Text 2"/>
          <p:cNvSpPr/>
          <p:nvPr/>
        </p:nvSpPr>
        <p:spPr>
          <a:xfrm>
            <a:off x="6171009" y="3128367"/>
            <a:ext cx="2474476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7" name="Text 3"/>
          <p:cNvSpPr/>
          <p:nvPr/>
        </p:nvSpPr>
        <p:spPr>
          <a:xfrm>
            <a:off x="6171009" y="3551277"/>
            <a:ext cx="77747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9" name="Text 4"/>
          <p:cNvSpPr/>
          <p:nvPr/>
        </p:nvSpPr>
        <p:spPr>
          <a:xfrm>
            <a:off x="6171009" y="4988719"/>
            <a:ext cx="2734985" cy="3056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endParaRPr lang="en-US" sz="1900" dirty="0"/>
          </a:p>
        </p:txBody>
      </p:sp>
      <p:sp>
        <p:nvSpPr>
          <p:cNvPr id="10" name="Text 5"/>
          <p:cNvSpPr/>
          <p:nvPr/>
        </p:nvSpPr>
        <p:spPr>
          <a:xfrm>
            <a:off x="6171009" y="5411629"/>
            <a:ext cx="77747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13" name="Text 7"/>
          <p:cNvSpPr/>
          <p:nvPr/>
        </p:nvSpPr>
        <p:spPr>
          <a:xfrm>
            <a:off x="6171009" y="7271980"/>
            <a:ext cx="7774781" cy="3128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endParaRPr lang="en-US" sz="150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703A004-27A4-DFAC-0D59-0F856BD27790}"/>
              </a:ext>
            </a:extLst>
          </p:cNvPr>
          <p:cNvSpPr txBox="1"/>
          <p:nvPr/>
        </p:nvSpPr>
        <p:spPr>
          <a:xfrm>
            <a:off x="-5877" y="7860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7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EF51D3AF-D180-810C-9C9F-EABB7A302474}"/>
              </a:ext>
            </a:extLst>
          </p:cNvPr>
          <p:cNvSpPr txBox="1"/>
          <p:nvPr/>
        </p:nvSpPr>
        <p:spPr>
          <a:xfrm>
            <a:off x="1174390" y="1580911"/>
            <a:ext cx="7731604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Grid e Block: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dim3 </a:t>
            </a:r>
            <a:r>
              <a:rPr lang="pt-BR" sz="2800" dirty="0" err="1"/>
              <a:t>block</a:t>
            </a:r>
            <a:r>
              <a:rPr lang="pt-BR" sz="2800" dirty="0"/>
              <a:t> (TILE, TILE)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Dim3 grid ((N+TILE-1)/TILE, (M+TILE-1)/TILE)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30C2AE82-BCD0-C812-46AD-494F1B5E7BC9}"/>
              </a:ext>
            </a:extLst>
          </p:cNvPr>
          <p:cNvSpPr txBox="1"/>
          <p:nvPr/>
        </p:nvSpPr>
        <p:spPr>
          <a:xfrm>
            <a:off x="1447800" y="3551277"/>
            <a:ext cx="11769569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err="1"/>
              <a:t>Warps</a:t>
            </a:r>
            <a:r>
              <a:rPr lang="pt-BR" sz="2800" dirty="0"/>
              <a:t>:</a:t>
            </a:r>
          </a:p>
          <a:p>
            <a:r>
              <a:rPr lang="pt-BR" sz="2800" dirty="0"/>
              <a:t>* 32 threads executam em conjunto -&gt; foco em evitar divergência.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A658248-33FD-1FAD-D03E-DC43579FE728}"/>
              </a:ext>
            </a:extLst>
          </p:cNvPr>
          <p:cNvSpPr txBox="1"/>
          <p:nvPr/>
        </p:nvSpPr>
        <p:spPr>
          <a:xfrm>
            <a:off x="1447800" y="5411629"/>
            <a:ext cx="120581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Tile </a:t>
            </a:r>
            <a:r>
              <a:rPr lang="pt-BR" sz="2800" dirty="0" err="1"/>
              <a:t>size</a:t>
            </a:r>
            <a:r>
              <a:rPr lang="pt-BR" sz="2800" dirty="0"/>
              <a:t> ajustável -&gt; influencia diretamente a ocupação e eficiência.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3917990" y="788016"/>
            <a:ext cx="752165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Otimizações</a:t>
            </a:r>
            <a:r>
              <a:rPr lang="en-US" sz="445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 CUDA</a:t>
            </a:r>
            <a:endParaRPr lang="en-US" sz="4450" dirty="0">
              <a:latin typeface="Aptos Black" panose="020B00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2116931"/>
            <a:ext cx="755642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878860" y="3561041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7" name="Text 4"/>
          <p:cNvSpPr/>
          <p:nvPr/>
        </p:nvSpPr>
        <p:spPr>
          <a:xfrm>
            <a:off x="1530906" y="3538657"/>
            <a:ext cx="3955971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1530906" y="4029075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1" name="Text 8"/>
          <p:cNvSpPr/>
          <p:nvPr/>
        </p:nvSpPr>
        <p:spPr>
          <a:xfrm>
            <a:off x="1530906" y="4923472"/>
            <a:ext cx="3504486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1530906" y="5413891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4" name="Text 11"/>
          <p:cNvSpPr/>
          <p:nvPr/>
        </p:nvSpPr>
        <p:spPr>
          <a:xfrm>
            <a:off x="878860" y="6272927"/>
            <a:ext cx="34016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endParaRPr lang="en-US" sz="2650" dirty="0"/>
          </a:p>
        </p:txBody>
      </p:sp>
      <p:sp>
        <p:nvSpPr>
          <p:cNvPr id="15" name="Text 12"/>
          <p:cNvSpPr/>
          <p:nvPr/>
        </p:nvSpPr>
        <p:spPr>
          <a:xfrm>
            <a:off x="1530906" y="6308288"/>
            <a:ext cx="365795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1530906" y="6798707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09B212D-5EEB-FBEA-01C2-3FDD09B9F7BB}"/>
              </a:ext>
            </a:extLst>
          </p:cNvPr>
          <p:cNvSpPr txBox="1"/>
          <p:nvPr/>
        </p:nvSpPr>
        <p:spPr>
          <a:xfrm>
            <a:off x="0" y="7860268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8</a:t>
            </a:r>
          </a:p>
        </p:txBody>
      </p:sp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0F2CB605-C052-B526-0060-B0AE6371E3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556585"/>
              </p:ext>
            </p:extLst>
          </p:nvPr>
        </p:nvGraphicFramePr>
        <p:xfrm>
          <a:off x="2133600" y="2864430"/>
          <a:ext cx="9753600" cy="4590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0">
                  <a:extLst>
                    <a:ext uri="{9D8B030D-6E8A-4147-A177-3AD203B41FA5}">
                      <a16:colId xmlns:a16="http://schemas.microsoft.com/office/drawing/2014/main" val="473915132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374476428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3448163236"/>
                    </a:ext>
                  </a:extLst>
                </a:gridCol>
              </a:tblGrid>
              <a:tr h="376418">
                <a:tc>
                  <a:txBody>
                    <a:bodyPr/>
                    <a:lstStyle/>
                    <a:p>
                      <a:r>
                        <a:rPr lang="pt-BR" dirty="0"/>
                        <a:t>Técnica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Descrição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Efeito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5709570"/>
                  </a:ext>
                </a:extLst>
              </a:tr>
              <a:tr h="671007">
                <a:tc>
                  <a:txBody>
                    <a:bodyPr/>
                    <a:lstStyle/>
                    <a:p>
                      <a:r>
                        <a:rPr lang="pt-BR" dirty="0" err="1"/>
                        <a:t>Shared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Memory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Armazena blocos locais de A e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Reduz acessos globais repetidos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040205"/>
                  </a:ext>
                </a:extLst>
              </a:tr>
              <a:tr h="671007">
                <a:tc>
                  <a:txBody>
                    <a:bodyPr/>
                    <a:lstStyle/>
                    <a:p>
                      <a:r>
                        <a:rPr lang="pt-BR" dirty="0" err="1"/>
                        <a:t>Memory</a:t>
                      </a:r>
                      <a:r>
                        <a:rPr lang="pt-BR" dirty="0"/>
                        <a:t> </a:t>
                      </a:r>
                      <a:r>
                        <a:rPr lang="pt-BR" dirty="0" err="1"/>
                        <a:t>Coalescing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Threads vizinhas leem endereços contíguos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Melhora eficiência de leitura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02233462"/>
                  </a:ext>
                </a:extLst>
              </a:tr>
              <a:tr h="671007">
                <a:tc>
                  <a:txBody>
                    <a:bodyPr/>
                    <a:lstStyle/>
                    <a:p>
                      <a:r>
                        <a:rPr lang="pt-BR" dirty="0"/>
                        <a:t>Loop </a:t>
                      </a:r>
                      <a:r>
                        <a:rPr lang="pt-BR" dirty="0" err="1"/>
                        <a:t>Unrolling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Expande loops internos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Aumenta </a:t>
                      </a:r>
                      <a:r>
                        <a:rPr lang="pt-BR" dirty="0" err="1"/>
                        <a:t>throughput</a:t>
                      </a:r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5816055"/>
                  </a:ext>
                </a:extLst>
              </a:tr>
              <a:tr h="671007">
                <a:tc>
                  <a:txBody>
                    <a:bodyPr/>
                    <a:lstStyle/>
                    <a:p>
                      <a:r>
                        <a:rPr lang="pt-BR" dirty="0"/>
                        <a:t>Validação </a:t>
                      </a:r>
                      <a:r>
                        <a:rPr lang="pt-BR" dirty="0" err="1"/>
                        <a:t>númerica</a:t>
                      </a:r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Comparação CPU </a:t>
                      </a:r>
                      <a:r>
                        <a:rPr lang="pt-BR" dirty="0" err="1"/>
                        <a:t>vs</a:t>
                      </a:r>
                      <a:r>
                        <a:rPr lang="pt-BR" dirty="0"/>
                        <a:t> GPU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Garante precisão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8689577"/>
                  </a:ext>
                </a:extLst>
              </a:tr>
              <a:tr h="671007">
                <a:tc>
                  <a:txBody>
                    <a:bodyPr/>
                    <a:lstStyle/>
                    <a:p>
                      <a:r>
                        <a:rPr lang="pt-BR" dirty="0"/>
                        <a:t>Benchmark automatizado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Várias execuções e tamanhos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dirty="0"/>
                        <a:t>Resultados consistentes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74522826"/>
                  </a:ext>
                </a:extLst>
              </a:tr>
              <a:tr h="376418">
                <a:tc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693696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098131" y="671751"/>
            <a:ext cx="643413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Memória</a:t>
            </a:r>
            <a:r>
              <a:rPr lang="en-US" sz="445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 no CUDA</a:t>
            </a:r>
            <a:endParaRPr lang="en-US" sz="4450" dirty="0">
              <a:latin typeface="Aptos Black" panose="020B00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03335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614499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4419600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5224701"/>
            <a:ext cx="350150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856321" y="3033355"/>
            <a:ext cx="286714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 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4856321" y="3614499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856321" y="4941094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  <a:buSzPct val="100000"/>
            </a:pPr>
            <a:endParaRPr lang="en-US" sz="1750" dirty="0"/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DA93BE8-D90A-5B05-9D57-7199BC5054F5}"/>
              </a:ext>
            </a:extLst>
          </p:cNvPr>
          <p:cNvSpPr txBox="1"/>
          <p:nvPr/>
        </p:nvSpPr>
        <p:spPr>
          <a:xfrm>
            <a:off x="144966" y="7817005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9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A7B5E6E-7788-6E62-9122-B203D6F90B3A}"/>
              </a:ext>
            </a:extLst>
          </p:cNvPr>
          <p:cNvSpPr txBox="1"/>
          <p:nvPr/>
        </p:nvSpPr>
        <p:spPr>
          <a:xfrm>
            <a:off x="2544544" y="2751475"/>
            <a:ext cx="911659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Tipos de memória usados: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Global: principal, acessada por todos os threads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/>
              <a:t>Shared</a:t>
            </a:r>
            <a:r>
              <a:rPr lang="pt-BR" sz="2800" dirty="0"/>
              <a:t>: local ao bloco, rápida (cache manual)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Constante: parâmetros fixos do kernel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Registradores: variáveis locais em cada thread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16D44104-D8BE-1818-26A1-ED599C81A6DD}"/>
              </a:ext>
            </a:extLst>
          </p:cNvPr>
          <p:cNvSpPr txBox="1"/>
          <p:nvPr/>
        </p:nvSpPr>
        <p:spPr>
          <a:xfrm>
            <a:off x="1753721" y="6496050"/>
            <a:ext cx="1193948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Blocos cooperam para carregar “tiles” de A e B na </a:t>
            </a:r>
            <a:r>
              <a:rPr lang="pt-BR" sz="2800" dirty="0" err="1"/>
              <a:t>shared</a:t>
            </a:r>
            <a:r>
              <a:rPr lang="pt-BR" sz="2800" dirty="0"/>
              <a:t> </a:t>
            </a:r>
            <a:r>
              <a:rPr lang="pt-BR" sz="2800" dirty="0" err="1"/>
              <a:t>memory</a:t>
            </a:r>
            <a:endParaRPr lang="pt-BR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4476750" y="423803"/>
            <a:ext cx="526423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Arquitetura</a:t>
            </a:r>
            <a:r>
              <a:rPr lang="en-US" sz="445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 do Sistema</a:t>
            </a:r>
            <a:endParaRPr lang="en-US" sz="4450" dirty="0">
              <a:latin typeface="Aptos Black" panose="020B0004020202020204" pitchFamily="34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2672120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10406182" y="461331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272525"/>
                </a:solidFill>
                <a:latin typeface="Aptos Black" panose="020B0004020202020204" pitchFamily="34" charset="0"/>
                <a:ea typeface="Inter Bold" pitchFamily="34" charset="-122"/>
                <a:cs typeface="Inter Bold" pitchFamily="34" charset="-120"/>
              </a:rPr>
              <a:t> 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017657"/>
            <a:ext cx="38382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2200" dirty="0"/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E75F19E1-A5BF-E5E7-2E39-3142A707A61E}"/>
              </a:ext>
            </a:extLst>
          </p:cNvPr>
          <p:cNvSpPr txBox="1"/>
          <p:nvPr/>
        </p:nvSpPr>
        <p:spPr>
          <a:xfrm>
            <a:off x="0" y="7860268"/>
            <a:ext cx="44114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10</a:t>
            </a:r>
          </a:p>
          <a:p>
            <a:endParaRPr lang="pt-BR" dirty="0"/>
          </a:p>
        </p:txBody>
      </p:sp>
      <p:pic>
        <p:nvPicPr>
          <p:cNvPr id="13" name="Imagem 12" descr="Diagrama&#10;&#10;O conteúdo gerado por IA pode estar incorreto.">
            <a:extLst>
              <a:ext uri="{FF2B5EF4-FFF2-40B4-BE49-F238E27FC236}">
                <a16:creationId xmlns:a16="http://schemas.microsoft.com/office/drawing/2014/main" id="{F7D7BE42-1EC1-EB89-AD8B-F2003C6EF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81599" y="1897832"/>
            <a:ext cx="5424947" cy="56369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94F675D7-0F3A-591D-8D6F-67B49ECBCB36}"/>
              </a:ext>
            </a:extLst>
          </p:cNvPr>
          <p:cNvSpPr txBox="1"/>
          <p:nvPr/>
        </p:nvSpPr>
        <p:spPr>
          <a:xfrm>
            <a:off x="4267200" y="466935"/>
            <a:ext cx="7315200" cy="7587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Benchmark </a:t>
            </a:r>
            <a:r>
              <a:rPr lang="en-US" sz="360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Automatizado</a:t>
            </a:r>
            <a:endParaRPr lang="en-US" sz="3600" dirty="0">
              <a:latin typeface="Aptos Black" panose="020B00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077459F-1482-A5E6-35F6-E631BCCDE9D7}"/>
              </a:ext>
            </a:extLst>
          </p:cNvPr>
          <p:cNvSpPr txBox="1"/>
          <p:nvPr/>
        </p:nvSpPr>
        <p:spPr>
          <a:xfrm>
            <a:off x="2400300" y="2362200"/>
            <a:ext cx="921277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Script run_benchmark.sh: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Executa várias combinações de tamanhos e tiles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Mede tempo CPU, GPU, GFLOPS, </a:t>
            </a:r>
            <a:r>
              <a:rPr lang="pt-BR" sz="2800" dirty="0" err="1"/>
              <a:t>Speedup</a:t>
            </a:r>
            <a:r>
              <a:rPr lang="pt-BR" sz="2800" dirty="0"/>
              <a:t>, erro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Gera benchmark_results.csv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7B7F516-E682-2E9B-571B-33872253900A}"/>
              </a:ext>
            </a:extLst>
          </p:cNvPr>
          <p:cNvSpPr txBox="1"/>
          <p:nvPr/>
        </p:nvSpPr>
        <p:spPr>
          <a:xfrm>
            <a:off x="2400300" y="5257800"/>
            <a:ext cx="364394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Exemplo:</a:t>
            </a:r>
          </a:p>
          <a:p>
            <a:r>
              <a:rPr lang="pt-BR" sz="2800" dirty="0"/>
              <a:t>./run_benchmark.sh</a:t>
            </a:r>
          </a:p>
          <a:p>
            <a:endParaRPr lang="pt-BR" sz="2800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4FBF85D-ADA5-EE85-8BA9-905D46E7B747}"/>
              </a:ext>
            </a:extLst>
          </p:cNvPr>
          <p:cNvSpPr txBox="1"/>
          <p:nvPr/>
        </p:nvSpPr>
        <p:spPr>
          <a:xfrm>
            <a:off x="2400300" y="7239445"/>
            <a:ext cx="105112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Resultados salvos automaticamente e prontos para análise.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91A327A-0993-7ADE-C8C4-566F5B34F0DC}"/>
              </a:ext>
            </a:extLst>
          </p:cNvPr>
          <p:cNvSpPr txBox="1"/>
          <p:nvPr/>
        </p:nvSpPr>
        <p:spPr>
          <a:xfrm>
            <a:off x="0" y="789253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7835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3EB6AFDD-C430-73B8-0313-BE3F3FE7B5EC}"/>
              </a:ext>
            </a:extLst>
          </p:cNvPr>
          <p:cNvSpPr txBox="1"/>
          <p:nvPr/>
        </p:nvSpPr>
        <p:spPr>
          <a:xfrm>
            <a:off x="3657600" y="360345"/>
            <a:ext cx="7315200" cy="75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Justificativas</a:t>
            </a:r>
            <a:r>
              <a:rPr lang="en-US" sz="360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 do Uso do CUDA</a:t>
            </a:r>
            <a:endParaRPr lang="en-US" sz="3600" dirty="0">
              <a:latin typeface="Aptos Black" panose="020B0004020202020204" pitchFamily="34" charset="0"/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9710443-904C-1FB0-94EC-B63AFBB7185F}"/>
              </a:ext>
            </a:extLst>
          </p:cNvPr>
          <p:cNvSpPr txBox="1"/>
          <p:nvPr/>
        </p:nvSpPr>
        <p:spPr>
          <a:xfrm>
            <a:off x="2552700" y="2381250"/>
            <a:ext cx="9425978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Alta eficiência em hardware NVIDIA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Ecossistema maduro (</a:t>
            </a:r>
            <a:r>
              <a:rPr lang="pt-BR" sz="2800" dirty="0" err="1"/>
              <a:t>cuBLAS</a:t>
            </a:r>
            <a:r>
              <a:rPr lang="pt-BR" sz="2800" dirty="0"/>
              <a:t>, </a:t>
            </a:r>
            <a:r>
              <a:rPr lang="pt-BR" sz="2800" dirty="0" err="1"/>
              <a:t>Nsight</a:t>
            </a:r>
            <a:r>
              <a:rPr lang="pt-BR" sz="2800" dirty="0"/>
              <a:t>, </a:t>
            </a:r>
            <a:r>
              <a:rPr lang="pt-BR" sz="2800" dirty="0" err="1"/>
              <a:t>cuFFT</a:t>
            </a:r>
            <a:r>
              <a:rPr lang="pt-BR" sz="2800" dirty="0"/>
              <a:t>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Controle fino de threads, blocos e memória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Ferramentas avançadas de depuração e </a:t>
            </a:r>
            <a:r>
              <a:rPr lang="pt-BR" sz="2800" dirty="0" err="1"/>
              <a:t>profiling</a:t>
            </a:r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Resultados reproduzíveis e escaláveis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A57E812A-04A3-C5E8-92FC-5E7D22EB64CD}"/>
              </a:ext>
            </a:extLst>
          </p:cNvPr>
          <p:cNvSpPr txBox="1"/>
          <p:nvPr/>
        </p:nvSpPr>
        <p:spPr>
          <a:xfrm>
            <a:off x="1257300" y="6400800"/>
            <a:ext cx="1322349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CUDA oferece o melhor controle e desempenho para paralelismo massivo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2A70514-BF6B-A7CD-A154-E679DEDA1B18}"/>
              </a:ext>
            </a:extLst>
          </p:cNvPr>
          <p:cNvSpPr txBox="1"/>
          <p:nvPr/>
        </p:nvSpPr>
        <p:spPr>
          <a:xfrm>
            <a:off x="0" y="7835384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4950398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C935D94-C9D1-FAC6-A702-3AF517511037}"/>
              </a:ext>
            </a:extLst>
          </p:cNvPr>
          <p:cNvSpPr txBox="1"/>
          <p:nvPr/>
        </p:nvSpPr>
        <p:spPr>
          <a:xfrm>
            <a:off x="3409950" y="524085"/>
            <a:ext cx="7315200" cy="7531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360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Instalação</a:t>
            </a:r>
            <a:r>
              <a:rPr lang="en-US" sz="3600" b="1" dirty="0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 e </a:t>
            </a:r>
            <a:r>
              <a:rPr lang="en-US" sz="3600" b="1" dirty="0" err="1">
                <a:solidFill>
                  <a:srgbClr val="000000"/>
                </a:solidFill>
                <a:latin typeface="Aptos Black" panose="020B0004020202020204" pitchFamily="34" charset="0"/>
                <a:ea typeface="Inter Bold" pitchFamily="34" charset="-122"/>
              </a:rPr>
              <a:t>Configuração</a:t>
            </a:r>
            <a:endParaRPr lang="en-US" sz="3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3E4703E-ADF6-FA3E-EE5F-84BB4DDFC3BA}"/>
              </a:ext>
            </a:extLst>
          </p:cNvPr>
          <p:cNvSpPr txBox="1"/>
          <p:nvPr/>
        </p:nvSpPr>
        <p:spPr>
          <a:xfrm>
            <a:off x="3131405" y="2360979"/>
            <a:ext cx="7593745" cy="31700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Requisitos: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000" dirty="0"/>
              <a:t>GPU NVIDIA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000" dirty="0"/>
              <a:t>CUDA Toolkit (&gt;= 11.0)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000" dirty="0"/>
              <a:t>Compilador </a:t>
            </a:r>
            <a:r>
              <a:rPr lang="pt-BR" sz="4000" dirty="0" err="1"/>
              <a:t>nvcc</a:t>
            </a:r>
            <a:endParaRPr lang="pt-BR" sz="40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4000" dirty="0" err="1"/>
              <a:t>Bash</a:t>
            </a:r>
            <a:r>
              <a:rPr lang="pt-BR" sz="4000" dirty="0"/>
              <a:t> e build-</a:t>
            </a:r>
            <a:r>
              <a:rPr lang="pt-BR" sz="4000" dirty="0" err="1"/>
              <a:t>essential</a:t>
            </a:r>
            <a:r>
              <a:rPr lang="pt-BR" sz="4000" dirty="0"/>
              <a:t> (Linux</a:t>
            </a:r>
            <a:r>
              <a:rPr lang="pt-BR" sz="2800" dirty="0"/>
              <a:t>)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254E21B-C57C-BF80-DFF0-3CBCE496D1EF}"/>
              </a:ext>
            </a:extLst>
          </p:cNvPr>
          <p:cNvSpPr txBox="1"/>
          <p:nvPr/>
        </p:nvSpPr>
        <p:spPr>
          <a:xfrm>
            <a:off x="609600" y="4808428"/>
            <a:ext cx="284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 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844A69B-6DF1-8B62-BDCF-C98676252D6A}"/>
              </a:ext>
            </a:extLst>
          </p:cNvPr>
          <p:cNvSpPr txBox="1"/>
          <p:nvPr/>
        </p:nvSpPr>
        <p:spPr>
          <a:xfrm>
            <a:off x="0" y="786026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56282205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C580393-B728-D66E-380D-33173DD9737A}"/>
              </a:ext>
            </a:extLst>
          </p:cNvPr>
          <p:cNvSpPr txBox="1"/>
          <p:nvPr/>
        </p:nvSpPr>
        <p:spPr>
          <a:xfrm>
            <a:off x="5543550" y="723215"/>
            <a:ext cx="27542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>
                <a:latin typeface="Aptos Black" panose="020B0004020202020204" pitchFamily="34" charset="0"/>
              </a:rPr>
              <a:t>Conclusões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09F451-7BC0-073B-7300-AB184A004B19}"/>
              </a:ext>
            </a:extLst>
          </p:cNvPr>
          <p:cNvSpPr txBox="1"/>
          <p:nvPr/>
        </p:nvSpPr>
        <p:spPr>
          <a:xfrm>
            <a:off x="1695450" y="1885950"/>
            <a:ext cx="11413702" cy="224676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Resultados principais:</a:t>
            </a:r>
          </a:p>
          <a:p>
            <a:endParaRPr lang="pt-BR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 err="1"/>
              <a:t>Coalescing</a:t>
            </a:r>
            <a:r>
              <a:rPr lang="pt-BR" sz="2800" dirty="0"/>
              <a:t> e </a:t>
            </a:r>
            <a:r>
              <a:rPr lang="pt-BR" sz="2800" dirty="0" err="1"/>
              <a:t>shared</a:t>
            </a:r>
            <a:r>
              <a:rPr lang="pt-BR" sz="2800" dirty="0"/>
              <a:t> </a:t>
            </a:r>
            <a:r>
              <a:rPr lang="pt-BR" sz="2800" dirty="0" err="1"/>
              <a:t>memory</a:t>
            </a:r>
            <a:r>
              <a:rPr lang="pt-BR" sz="2800" dirty="0"/>
              <a:t> melhoram eficiência de acesso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A GPU supera amplamente o desempenho da CPU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pt-BR" sz="2800" dirty="0"/>
              <a:t>Otimizações garantem precisão e reprodutibilidade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C03ABD1-C92C-659A-6AD4-340DFEA94ABC}"/>
              </a:ext>
            </a:extLst>
          </p:cNvPr>
          <p:cNvSpPr txBox="1"/>
          <p:nvPr/>
        </p:nvSpPr>
        <p:spPr>
          <a:xfrm>
            <a:off x="1695450" y="5067300"/>
            <a:ext cx="4697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 err="1"/>
              <a:t>Speedup</a:t>
            </a:r>
            <a:r>
              <a:rPr lang="pt-BR" sz="2800" dirty="0"/>
              <a:t> médio: até ~25x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CFD0605F-DB9A-B152-9EAD-CAF509B31198}"/>
              </a:ext>
            </a:extLst>
          </p:cNvPr>
          <p:cNvSpPr txBox="1"/>
          <p:nvPr/>
        </p:nvSpPr>
        <p:spPr>
          <a:xfrm>
            <a:off x="1695450" y="5628620"/>
            <a:ext cx="37000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Erro máximo: ~10^-6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5D3C2C4-0CD4-CB54-D258-66BF3A432545}"/>
              </a:ext>
            </a:extLst>
          </p:cNvPr>
          <p:cNvSpPr txBox="1"/>
          <p:nvPr/>
        </p:nvSpPr>
        <p:spPr>
          <a:xfrm>
            <a:off x="1828800" y="7181850"/>
            <a:ext cx="1240115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800" dirty="0"/>
              <a:t>CUDA provou-se a melhor abordagem para problemas paralelizáveis </a:t>
            </a:r>
          </a:p>
          <a:p>
            <a:r>
              <a:rPr lang="pt-BR" sz="2800" dirty="0"/>
              <a:t>Como multiplicação de matrizes.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4AE6E70-CB2D-826A-77D9-6404C41FE5BE}"/>
              </a:ext>
            </a:extLst>
          </p:cNvPr>
          <p:cNvSpPr txBox="1"/>
          <p:nvPr/>
        </p:nvSpPr>
        <p:spPr>
          <a:xfrm>
            <a:off x="-40698" y="7766625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0557078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DB773C7-F91F-E17D-74C8-505AEAF81760}"/>
              </a:ext>
            </a:extLst>
          </p:cNvPr>
          <p:cNvSpPr txBox="1"/>
          <p:nvPr/>
        </p:nvSpPr>
        <p:spPr>
          <a:xfrm>
            <a:off x="5535965" y="3582769"/>
            <a:ext cx="29947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dirty="0"/>
              <a:t>OBRIGADO!!</a:t>
            </a:r>
          </a:p>
        </p:txBody>
      </p:sp>
    </p:spTree>
    <p:extLst>
      <p:ext uri="{BB962C8B-B14F-4D97-AF65-F5344CB8AC3E}">
        <p14:creationId xmlns:p14="http://schemas.microsoft.com/office/powerpoint/2010/main" val="658529469"/>
      </p:ext>
    </p:extLst>
  </p:cSld>
  <p:clrMapOvr>
    <a:masterClrMapping/>
  </p:clrMapOvr>
</p:sld>
</file>

<file path=ppt/theme/theme1.xml><?xml version="1.0" encoding="utf-8"?>
<a:theme xmlns:a="http://schemas.openxmlformats.org/drawingml/2006/main" name="Cacho">
  <a:themeElements>
    <a:clrScheme name="Cach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Cach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ach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</TotalTime>
  <Words>681</Words>
  <Application>Microsoft Office PowerPoint</Application>
  <PresentationFormat>Personalizar</PresentationFormat>
  <Paragraphs>146</Paragraphs>
  <Slides>15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1" baseType="lpstr">
      <vt:lpstr>Inter</vt:lpstr>
      <vt:lpstr>Arial</vt:lpstr>
      <vt:lpstr>Aptos Black</vt:lpstr>
      <vt:lpstr>Wingdings 3</vt:lpstr>
      <vt:lpstr>Century Gothic</vt:lpstr>
      <vt:lpstr>Cacho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HENRIQUE GUERRA GONÇALVES DE AZEVEDO</cp:lastModifiedBy>
  <cp:revision>3</cp:revision>
  <dcterms:created xsi:type="dcterms:W3CDTF">2025-11-09T23:11:08Z</dcterms:created>
  <dcterms:modified xsi:type="dcterms:W3CDTF">2025-11-11T23:50:27Z</dcterms:modified>
</cp:coreProperties>
</file>